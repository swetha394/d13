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ourier Prime Bold" charset="1" panose="00000809000000000000"/>
      <p:regular r:id="rId20"/>
    </p:embeddedFont>
    <p:embeddedFont>
      <p:font typeface="Public Sans Bold" charset="1" panose="00000000000000000000"/>
      <p:regular r:id="rId21"/>
    </p:embeddedFont>
    <p:embeddedFont>
      <p:font typeface="Courier Prime" charset="1" panose="00000509000000000000"/>
      <p:regular r:id="rId22"/>
    </p:embeddedFont>
    <p:embeddedFont>
      <p:font typeface="Canva Sans" charset="1" panose="020B0503030501040103"/>
      <p:regular r:id="rId23"/>
    </p:embeddedFont>
    <p:embeddedFont>
      <p:font typeface="Accordion Black" charset="1" panose="00000500000000000000"/>
      <p:regular r:id="rId24"/>
    </p:embeddedFont>
    <p:embeddedFont>
      <p:font typeface="Poppins" charset="1" panose="00000500000000000000"/>
      <p:regular r:id="rId25"/>
    </p:embeddedFont>
    <p:embeddedFont>
      <p:font typeface="Poppins Bold"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352921" y="-1938334"/>
            <a:ext cx="14777046" cy="15720261"/>
          </a:xfrm>
          <a:custGeom>
            <a:avLst/>
            <a:gdLst/>
            <a:ahLst/>
            <a:cxnLst/>
            <a:rect r="r" b="b" t="t" l="l"/>
            <a:pathLst>
              <a:path h="15720261" w="14777046">
                <a:moveTo>
                  <a:pt x="0" y="0"/>
                </a:moveTo>
                <a:lnTo>
                  <a:pt x="14777045" y="0"/>
                </a:lnTo>
                <a:lnTo>
                  <a:pt x="14777045" y="15720261"/>
                </a:lnTo>
                <a:lnTo>
                  <a:pt x="0" y="15720261"/>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734260" y="2307624"/>
            <a:ext cx="7835983" cy="8336152"/>
          </a:xfrm>
          <a:custGeom>
            <a:avLst/>
            <a:gdLst/>
            <a:ahLst/>
            <a:cxnLst/>
            <a:rect r="r" b="b" t="t" l="l"/>
            <a:pathLst>
              <a:path h="8336152" w="7835983">
                <a:moveTo>
                  <a:pt x="0" y="0"/>
                </a:moveTo>
                <a:lnTo>
                  <a:pt x="7835983" y="0"/>
                </a:lnTo>
                <a:lnTo>
                  <a:pt x="7835983" y="8336152"/>
                </a:lnTo>
                <a:lnTo>
                  <a:pt x="0" y="83361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1691047"/>
            <a:ext cx="11543960" cy="1714163"/>
          </a:xfrm>
          <a:prstGeom prst="rect">
            <a:avLst/>
          </a:prstGeom>
        </p:spPr>
        <p:txBody>
          <a:bodyPr anchor="t" rtlCol="false" tIns="0" lIns="0" bIns="0" rIns="0">
            <a:spAutoFit/>
          </a:bodyPr>
          <a:lstStyle/>
          <a:p>
            <a:pPr algn="l">
              <a:lnSpc>
                <a:spcPts val="6843"/>
              </a:lnSpc>
              <a:spcBef>
                <a:spcPct val="0"/>
              </a:spcBef>
            </a:pPr>
            <a:r>
              <a:rPr lang="en-US" b="true" sz="4888">
                <a:solidFill>
                  <a:srgbClr val="000000"/>
                </a:solidFill>
                <a:latin typeface="Courier Prime Bold"/>
                <a:ea typeface="Courier Prime Bold"/>
                <a:cs typeface="Courier Prime Bold"/>
                <a:sym typeface="Courier Prime Bold"/>
              </a:rPr>
              <a:t>AI-POWERED COMPANY-SPECIFIC MOCK INTERVIEW SYSTEM</a:t>
            </a:r>
          </a:p>
        </p:txBody>
      </p:sp>
      <p:sp>
        <p:nvSpPr>
          <p:cNvPr name="TextBox 15" id="15"/>
          <p:cNvSpPr txBox="true"/>
          <p:nvPr/>
        </p:nvSpPr>
        <p:spPr>
          <a:xfrm rot="0">
            <a:off x="1237319" y="5057775"/>
            <a:ext cx="8064251" cy="3177048"/>
          </a:xfrm>
          <a:prstGeom prst="rect">
            <a:avLst/>
          </a:prstGeom>
        </p:spPr>
        <p:txBody>
          <a:bodyPr anchor="t" rtlCol="false" tIns="0" lIns="0" bIns="0" rIns="0">
            <a:spAutoFit/>
          </a:bodyPr>
          <a:lstStyle/>
          <a:p>
            <a:pPr algn="l">
              <a:lnSpc>
                <a:spcPts val="5352"/>
              </a:lnSpc>
            </a:pPr>
          </a:p>
          <a:p>
            <a:pPr algn="l">
              <a:lnSpc>
                <a:spcPts val="5492"/>
              </a:lnSpc>
            </a:pPr>
            <a:r>
              <a:rPr lang="en-US" sz="3923" spc="784" b="true">
                <a:solidFill>
                  <a:srgbClr val="000000"/>
                </a:solidFill>
                <a:latin typeface="Courier Prime Bold"/>
                <a:ea typeface="Courier Prime Bold"/>
                <a:cs typeface="Courier Prime Bold"/>
                <a:sym typeface="Courier Prime Bold"/>
              </a:rPr>
              <a:t>TEAM MEMBERS:</a:t>
            </a:r>
          </a:p>
          <a:p>
            <a:pPr algn="l">
              <a:lnSpc>
                <a:spcPts val="4910"/>
              </a:lnSpc>
            </a:pPr>
            <a:r>
              <a:rPr lang="en-US" sz="2923" spc="584" b="true">
                <a:solidFill>
                  <a:srgbClr val="000000"/>
                </a:solidFill>
                <a:latin typeface="Public Sans Bold"/>
                <a:ea typeface="Public Sans Bold"/>
                <a:cs typeface="Public Sans Bold"/>
                <a:sym typeface="Public Sans Bold"/>
              </a:rPr>
              <a:t>   Thilshi A- 211422104519</a:t>
            </a:r>
          </a:p>
          <a:p>
            <a:pPr algn="l">
              <a:lnSpc>
                <a:spcPts val="4910"/>
              </a:lnSpc>
            </a:pPr>
            <a:r>
              <a:rPr lang="en-US" sz="2923" spc="584" b="true">
                <a:solidFill>
                  <a:srgbClr val="000000"/>
                </a:solidFill>
                <a:latin typeface="Public Sans Bold"/>
                <a:ea typeface="Public Sans Bold"/>
                <a:cs typeface="Public Sans Bold"/>
                <a:sym typeface="Public Sans Bold"/>
              </a:rPr>
              <a:t>   Swetha J  - 211422104510</a:t>
            </a:r>
          </a:p>
          <a:p>
            <a:pPr algn="l">
              <a:lnSpc>
                <a:spcPts val="4910"/>
              </a:lnSpc>
            </a:pPr>
            <a:r>
              <a:rPr lang="en-US" sz="2923" spc="584" b="true">
                <a:solidFill>
                  <a:srgbClr val="000000"/>
                </a:solidFill>
                <a:latin typeface="Public Sans Bold"/>
                <a:ea typeface="Public Sans Bold"/>
                <a:cs typeface="Public Sans Bold"/>
                <a:sym typeface="Public Sans Bold"/>
              </a:rPr>
              <a:t>   Sridevi V - 211422104474</a:t>
            </a:r>
          </a:p>
        </p:txBody>
      </p:sp>
      <p:sp>
        <p:nvSpPr>
          <p:cNvPr name="AutoShape 16" id="16"/>
          <p:cNvSpPr/>
          <p:nvPr/>
        </p:nvSpPr>
        <p:spPr>
          <a:xfrm>
            <a:off x="3414764" y="3790104"/>
            <a:ext cx="4852780" cy="0"/>
          </a:xfrm>
          <a:prstGeom prst="line">
            <a:avLst/>
          </a:prstGeom>
          <a:ln cap="rnd" w="76200">
            <a:solidFill>
              <a:srgbClr val="000000"/>
            </a:solidFill>
            <a:prstDash val="solid"/>
            <a:headEnd type="none" len="sm" w="sm"/>
            <a:tailEnd type="none" len="sm" w="sm"/>
          </a:ln>
        </p:spPr>
      </p:sp>
      <p:sp>
        <p:nvSpPr>
          <p:cNvPr name="TextBox 17" id="17"/>
          <p:cNvSpPr txBox="true"/>
          <p:nvPr/>
        </p:nvSpPr>
        <p:spPr>
          <a:xfrm rot="0">
            <a:off x="1263573" y="4085379"/>
            <a:ext cx="7324043" cy="1500630"/>
          </a:xfrm>
          <a:prstGeom prst="rect">
            <a:avLst/>
          </a:prstGeom>
        </p:spPr>
        <p:txBody>
          <a:bodyPr anchor="t" rtlCol="false" tIns="0" lIns="0" bIns="0" rIns="0">
            <a:spAutoFit/>
          </a:bodyPr>
          <a:lstStyle/>
          <a:p>
            <a:pPr algn="l">
              <a:lnSpc>
                <a:spcPts val="6153"/>
              </a:lnSpc>
            </a:pPr>
            <a:r>
              <a:rPr lang="en-US" sz="4395" b="true">
                <a:solidFill>
                  <a:srgbClr val="000000"/>
                </a:solidFill>
                <a:latin typeface="Courier Prime Bold"/>
                <a:ea typeface="Courier Prime Bold"/>
                <a:cs typeface="Courier Prime Bold"/>
                <a:sym typeface="Courier Prime Bold"/>
              </a:rPr>
              <a:t>BATCH : D13</a:t>
            </a:r>
          </a:p>
          <a:p>
            <a:pPr algn="l">
              <a:lnSpc>
                <a:spcPts val="5873"/>
              </a:lnSpc>
              <a:spcBef>
                <a:spcPct val="0"/>
              </a:spcBef>
            </a:pPr>
            <a:r>
              <a:rPr lang="en-US" b="true" sz="4195">
                <a:solidFill>
                  <a:srgbClr val="000000"/>
                </a:solidFill>
                <a:latin typeface="Courier Prime Bold"/>
                <a:ea typeface="Courier Prime Bold"/>
                <a:cs typeface="Courier Prime Bold"/>
                <a:sym typeface="Courier Prime Bold"/>
              </a:rPr>
              <a:t>GUIDE : </a:t>
            </a:r>
            <a:r>
              <a:rPr lang="en-US" sz="4195">
                <a:solidFill>
                  <a:srgbClr val="000000"/>
                </a:solidFill>
                <a:latin typeface="Courier Prime"/>
                <a:ea typeface="Courier Prime"/>
                <a:cs typeface="Courier Prime"/>
                <a:sym typeface="Courier Prime"/>
              </a:rPr>
              <a:t>Mrs.Rajeshwari</a:t>
            </a:r>
          </a:p>
        </p:txBody>
      </p:sp>
      <p:sp>
        <p:nvSpPr>
          <p:cNvPr name="TextBox 18" id="18"/>
          <p:cNvSpPr txBox="true"/>
          <p:nvPr/>
        </p:nvSpPr>
        <p:spPr>
          <a:xfrm rot="0">
            <a:off x="7889518" y="9511173"/>
            <a:ext cx="180079" cy="444093"/>
          </a:xfrm>
          <a:prstGeom prst="rect">
            <a:avLst/>
          </a:prstGeom>
        </p:spPr>
        <p:txBody>
          <a:bodyPr anchor="t" rtlCol="false" tIns="0" lIns="0" bIns="0" rIns="0" wrap="none">
            <a:spAutoFit/>
          </a:bodyPr>
          <a:lstStyle/>
          <a:p>
            <a:pPr algn="ctr">
              <a:lnSpc>
                <a:spcPts val="3449"/>
              </a:lnSpc>
              <a:spcBef>
                <a:spcPct val="0"/>
              </a:spcBef>
            </a:pPr>
            <a:r>
              <a:rPr lang="en-US" sz="2464">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9144000" y="1062768"/>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30421" y="5143500"/>
            <a:ext cx="5784284" cy="6153493"/>
          </a:xfrm>
          <a:custGeom>
            <a:avLst/>
            <a:gdLst/>
            <a:ahLst/>
            <a:cxnLst/>
            <a:rect r="r" b="b" t="t" l="l"/>
            <a:pathLst>
              <a:path h="6153493" w="5784284">
                <a:moveTo>
                  <a:pt x="0" y="0"/>
                </a:moveTo>
                <a:lnTo>
                  <a:pt x="5784284" y="0"/>
                </a:lnTo>
                <a:lnTo>
                  <a:pt x="5784284" y="6153493"/>
                </a:lnTo>
                <a:lnTo>
                  <a:pt x="0" y="61534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9258300"/>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9258300"/>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7953" y="9258300"/>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6236709" cy="1135496"/>
          </a:xfrm>
          <a:prstGeom prst="rect">
            <a:avLst/>
          </a:prstGeom>
        </p:spPr>
        <p:txBody>
          <a:bodyPr anchor="t" rtlCol="false" tIns="0" lIns="0" bIns="0" rIns="0">
            <a:spAutoFit/>
          </a:bodyPr>
          <a:lstStyle/>
          <a:p>
            <a:pPr algn="l">
              <a:lnSpc>
                <a:spcPts val="8288"/>
              </a:lnSpc>
              <a:spcBef>
                <a:spcPct val="0"/>
              </a:spcBef>
            </a:pPr>
            <a:r>
              <a:rPr lang="en-US" sz="5920">
                <a:solidFill>
                  <a:srgbClr val="000000"/>
                </a:solidFill>
                <a:latin typeface="Accordion Black"/>
                <a:ea typeface="Accordion Black"/>
                <a:cs typeface="Accordion Black"/>
                <a:sym typeface="Accordion Black"/>
              </a:rPr>
              <a:t>ABSTRACT</a:t>
            </a:r>
          </a:p>
        </p:txBody>
      </p:sp>
      <p:sp>
        <p:nvSpPr>
          <p:cNvPr name="TextBox 15" id="15"/>
          <p:cNvSpPr txBox="true"/>
          <p:nvPr/>
        </p:nvSpPr>
        <p:spPr>
          <a:xfrm rot="0">
            <a:off x="1028700" y="2402529"/>
            <a:ext cx="13795261" cy="5009072"/>
          </a:xfrm>
          <a:prstGeom prst="rect">
            <a:avLst/>
          </a:prstGeom>
        </p:spPr>
        <p:txBody>
          <a:bodyPr anchor="t" rtlCol="false" tIns="0" lIns="0" bIns="0" rIns="0">
            <a:spAutoFit/>
          </a:bodyPr>
          <a:lstStyle/>
          <a:p>
            <a:pPr algn="just">
              <a:lnSpc>
                <a:spcPts val="5030"/>
              </a:lnSpc>
            </a:pPr>
            <a:r>
              <a:rPr lang="en-US" sz="2794">
                <a:solidFill>
                  <a:srgbClr val="000000"/>
                </a:solidFill>
                <a:latin typeface="Poppins"/>
                <a:ea typeface="Poppins"/>
                <a:cs typeface="Poppins"/>
                <a:sym typeface="Poppins"/>
              </a:rPr>
              <a:t>Campus hiring requires interview preparation tailored to specific companies and job roles. Many students lack access to realistic and structured mock interview environments. Artificial Intelligence enables personalized and adaptive interview experiences. Different companies follow unique interview patterns, evaluation criteria, and skill expectations. The proposed system bridges the gap between academic learning and industry requirements. It helps students improve technical knowledge, communication skills, and interview confidence.</a:t>
            </a:r>
          </a:p>
        </p:txBody>
      </p:sp>
      <p:sp>
        <p:nvSpPr>
          <p:cNvPr name="TextBox 16" id="16"/>
          <p:cNvSpPr txBox="true"/>
          <p:nvPr/>
        </p:nvSpPr>
        <p:spPr>
          <a:xfrm rot="0">
            <a:off x="7926330" y="9220200"/>
            <a:ext cx="180079" cy="428373"/>
          </a:xfrm>
          <a:prstGeom prst="rect">
            <a:avLst/>
          </a:prstGeom>
        </p:spPr>
        <p:txBody>
          <a:bodyPr anchor="t" rtlCol="false" tIns="0" lIns="0" bIns="0" rIns="0" wrap="none">
            <a:spAutoFit/>
          </a:bodyPr>
          <a:lstStyle/>
          <a:p>
            <a:pPr algn="ctr">
              <a:lnSpc>
                <a:spcPts val="3415"/>
              </a:lnSpc>
              <a:spcBef>
                <a:spcPct val="0"/>
              </a:spcBef>
            </a:pPr>
            <a:r>
              <a:rPr lang="en-US" sz="2439">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9021726" y="1028700"/>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09937" y="790575"/>
            <a:ext cx="5223758" cy="1135496"/>
          </a:xfrm>
          <a:prstGeom prst="rect">
            <a:avLst/>
          </a:prstGeom>
        </p:spPr>
        <p:txBody>
          <a:bodyPr anchor="t" rtlCol="false" tIns="0" lIns="0" bIns="0" rIns="0">
            <a:spAutoFit/>
          </a:bodyPr>
          <a:lstStyle/>
          <a:p>
            <a:pPr algn="ctr">
              <a:lnSpc>
                <a:spcPts val="8288"/>
              </a:lnSpc>
              <a:spcBef>
                <a:spcPct val="0"/>
              </a:spcBef>
            </a:pPr>
            <a:r>
              <a:rPr lang="en-US" sz="5920">
                <a:solidFill>
                  <a:srgbClr val="000000"/>
                </a:solidFill>
                <a:latin typeface="Accordion Black"/>
                <a:ea typeface="Accordion Black"/>
                <a:cs typeface="Accordion Black"/>
                <a:sym typeface="Accordion Black"/>
              </a:rPr>
              <a:t>INTRODUCTION</a:t>
            </a:r>
          </a:p>
        </p:txBody>
      </p:sp>
      <p:sp>
        <p:nvSpPr>
          <p:cNvPr name="TextBox 15" id="15"/>
          <p:cNvSpPr txBox="true"/>
          <p:nvPr/>
        </p:nvSpPr>
        <p:spPr>
          <a:xfrm rot="0">
            <a:off x="1028700" y="2177899"/>
            <a:ext cx="12435893" cy="5199634"/>
          </a:xfrm>
          <a:prstGeom prst="rect">
            <a:avLst/>
          </a:prstGeom>
        </p:spPr>
        <p:txBody>
          <a:bodyPr anchor="t" rtlCol="false" tIns="0" lIns="0" bIns="0" rIns="0">
            <a:spAutoFit/>
          </a:bodyPr>
          <a:lstStyle/>
          <a:p>
            <a:pPr algn="just">
              <a:lnSpc>
                <a:spcPts val="4627"/>
              </a:lnSpc>
            </a:pPr>
            <a:r>
              <a:rPr lang="en-US" sz="2599">
                <a:solidFill>
                  <a:srgbClr val="000000"/>
                </a:solidFill>
                <a:latin typeface="Poppins"/>
                <a:ea typeface="Poppins"/>
                <a:cs typeface="Poppins"/>
                <a:sym typeface="Poppins"/>
              </a:rPr>
              <a:t>The primary objective of this project is to develop an AI-based mock interview system tailored to specific companies and job roles. The system aims to simulate real-time interview scenarios using previous interview questions and job descriptions. It evaluates user responses using AI and provides structured feedback to identify strengths and areas for improvement. The platform helps students enhance technical knowledge, communication skills, and interview confidence. Ultimately, the system aims to improve student readiness and success in campus hiring processes.</a:t>
            </a:r>
          </a:p>
        </p:txBody>
      </p:sp>
      <p:sp>
        <p:nvSpPr>
          <p:cNvPr name="TextBox 16" id="16"/>
          <p:cNvSpPr txBox="true"/>
          <p:nvPr/>
        </p:nvSpPr>
        <p:spPr>
          <a:xfrm rot="0">
            <a:off x="7855151" y="8975802"/>
            <a:ext cx="273383" cy="58408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8059365" y="1336325"/>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503716" y="4832128"/>
            <a:ext cx="5784284" cy="6153493"/>
          </a:xfrm>
          <a:custGeom>
            <a:avLst/>
            <a:gdLst/>
            <a:ahLst/>
            <a:cxnLst/>
            <a:rect r="r" b="b" t="t" l="l"/>
            <a:pathLst>
              <a:path h="6153493" w="5784284">
                <a:moveTo>
                  <a:pt x="0" y="0"/>
                </a:moveTo>
                <a:lnTo>
                  <a:pt x="5784284" y="0"/>
                </a:lnTo>
                <a:lnTo>
                  <a:pt x="5784284" y="6153493"/>
                </a:lnTo>
                <a:lnTo>
                  <a:pt x="0" y="61534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8892894" cy="1118985"/>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PROBLEM STATEMENT</a:t>
            </a:r>
          </a:p>
        </p:txBody>
      </p:sp>
      <p:sp>
        <p:nvSpPr>
          <p:cNvPr name="TextBox 15" id="15"/>
          <p:cNvSpPr txBox="true"/>
          <p:nvPr/>
        </p:nvSpPr>
        <p:spPr>
          <a:xfrm rot="0">
            <a:off x="1028700" y="2408314"/>
            <a:ext cx="12186327" cy="5500561"/>
          </a:xfrm>
          <a:prstGeom prst="rect">
            <a:avLst/>
          </a:prstGeom>
        </p:spPr>
        <p:txBody>
          <a:bodyPr anchor="t" rtlCol="false" tIns="0" lIns="0" bIns="0" rIns="0">
            <a:spAutoFit/>
          </a:bodyPr>
          <a:lstStyle/>
          <a:p>
            <a:pPr algn="just">
              <a:lnSpc>
                <a:spcPts val="4404"/>
              </a:lnSpc>
            </a:pPr>
            <a:r>
              <a:rPr lang="en-US" sz="2575">
                <a:solidFill>
                  <a:srgbClr val="000000"/>
                </a:solidFill>
                <a:latin typeface="Poppins"/>
                <a:ea typeface="Poppins"/>
                <a:cs typeface="Poppins"/>
                <a:sym typeface="Poppins"/>
              </a:rPr>
              <a:t>Students preparing for campus placements often lack access to realistic and company-specific interview practice. Most existing mock interview platforms provide generic questions that do not reflect actual hiring patterns of individual companies. Manual mock interviews require experienced interviewers and are difficult to scale for large numbers of students. As a result, students receive limited feedback on their technical, behavioral, and communication skills. This gap between academic preparation and real interview expectations reduces student confidence and placement success rates. Therefore, an intelligent and automated mock interview system is required to address these challenges.</a:t>
            </a:r>
          </a:p>
        </p:txBody>
      </p:sp>
      <p:sp>
        <p:nvSpPr>
          <p:cNvPr name="TextBox 16" id="16"/>
          <p:cNvSpPr txBox="true"/>
          <p:nvPr/>
        </p:nvSpPr>
        <p:spPr>
          <a:xfrm rot="0">
            <a:off x="7879224" y="9377770"/>
            <a:ext cx="180079" cy="407823"/>
          </a:xfrm>
          <a:prstGeom prst="rect">
            <a:avLst/>
          </a:prstGeom>
        </p:spPr>
        <p:txBody>
          <a:bodyPr anchor="t" rtlCol="false" tIns="0" lIns="0" bIns="0" rIns="0" wrap="none">
            <a:spAutoFit/>
          </a:bodyPr>
          <a:lstStyle/>
          <a:p>
            <a:pPr algn="ctr">
              <a:lnSpc>
                <a:spcPts val="3421"/>
              </a:lnSpc>
              <a:spcBef>
                <a:spcPct val="0"/>
              </a:spcBef>
            </a:pPr>
            <a:r>
              <a:rPr lang="en-US" sz="2443">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8281891" y="1909561"/>
            <a:ext cx="11935807" cy="12697667"/>
          </a:xfrm>
          <a:custGeom>
            <a:avLst/>
            <a:gdLst/>
            <a:ahLst/>
            <a:cxnLst/>
            <a:rect r="r" b="b" t="t" l="l"/>
            <a:pathLst>
              <a:path h="12697667" w="11935807">
                <a:moveTo>
                  <a:pt x="0" y="0"/>
                </a:moveTo>
                <a:lnTo>
                  <a:pt x="11935806" y="0"/>
                </a:lnTo>
                <a:lnTo>
                  <a:pt x="11935806" y="12697666"/>
                </a:lnTo>
                <a:lnTo>
                  <a:pt x="0" y="12697666"/>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10266006"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EXISTING SYSTEM</a:t>
            </a:r>
          </a:p>
        </p:txBody>
      </p:sp>
      <p:sp>
        <p:nvSpPr>
          <p:cNvPr name="TextBox 15" id="15"/>
          <p:cNvSpPr txBox="true"/>
          <p:nvPr/>
        </p:nvSpPr>
        <p:spPr>
          <a:xfrm rot="0">
            <a:off x="1028700" y="2396787"/>
            <a:ext cx="12625339" cy="4564380"/>
          </a:xfrm>
          <a:prstGeom prst="rect">
            <a:avLst/>
          </a:prstGeom>
        </p:spPr>
        <p:txBody>
          <a:bodyPr anchor="t" rtlCol="false" tIns="0" lIns="0" bIns="0" rIns="0">
            <a:spAutoFit/>
          </a:bodyPr>
          <a:lstStyle/>
          <a:p>
            <a:pPr algn="just" marL="578611" indent="-289306" lvl="1">
              <a:lnSpc>
                <a:spcPts val="5225"/>
              </a:lnSpc>
              <a:buFont typeface="Arial"/>
              <a:buChar char="•"/>
            </a:pPr>
            <a:r>
              <a:rPr lang="en-US" sz="2679">
                <a:solidFill>
                  <a:srgbClr val="000000"/>
                </a:solidFill>
                <a:latin typeface="Poppins"/>
                <a:ea typeface="Poppins"/>
                <a:cs typeface="Poppins"/>
                <a:sym typeface="Poppins"/>
              </a:rPr>
              <a:t>Mock int</a:t>
            </a:r>
            <a:r>
              <a:rPr lang="en-US" sz="2679">
                <a:solidFill>
                  <a:srgbClr val="000000"/>
                </a:solidFill>
                <a:latin typeface="Poppins"/>
                <a:ea typeface="Poppins"/>
                <a:cs typeface="Poppins"/>
                <a:sym typeface="Poppins"/>
              </a:rPr>
              <a:t>erviews are conducted manually or through generic online platforms.</a:t>
            </a:r>
          </a:p>
          <a:p>
            <a:pPr algn="just" marL="578611" indent="-289306" lvl="1">
              <a:lnSpc>
                <a:spcPts val="5225"/>
              </a:lnSpc>
              <a:buFont typeface="Arial"/>
              <a:buChar char="•"/>
            </a:pPr>
            <a:r>
              <a:rPr lang="en-US" sz="2679">
                <a:solidFill>
                  <a:srgbClr val="000000"/>
                </a:solidFill>
                <a:latin typeface="Poppins"/>
                <a:ea typeface="Poppins"/>
                <a:cs typeface="Poppins"/>
                <a:sym typeface="Poppins"/>
              </a:rPr>
              <a:t>Questions are not tailored to specific companies or job roles.</a:t>
            </a:r>
          </a:p>
          <a:p>
            <a:pPr algn="just" marL="578611" indent="-289306" lvl="1">
              <a:lnSpc>
                <a:spcPts val="5225"/>
              </a:lnSpc>
              <a:buFont typeface="Arial"/>
              <a:buChar char="•"/>
            </a:pPr>
            <a:r>
              <a:rPr lang="en-US" sz="2679">
                <a:solidFill>
                  <a:srgbClr val="000000"/>
                </a:solidFill>
                <a:latin typeface="Poppins"/>
                <a:ea typeface="Poppins"/>
                <a:cs typeface="Poppins"/>
                <a:sym typeface="Poppins"/>
              </a:rPr>
              <a:t>Limited availability of experienced interviewers.</a:t>
            </a:r>
          </a:p>
          <a:p>
            <a:pPr algn="just" marL="578611" indent="-289306" lvl="1">
              <a:lnSpc>
                <a:spcPts val="5225"/>
              </a:lnSpc>
              <a:buFont typeface="Arial"/>
              <a:buChar char="•"/>
            </a:pPr>
            <a:r>
              <a:rPr lang="en-US" sz="2679">
                <a:solidFill>
                  <a:srgbClr val="000000"/>
                </a:solidFill>
                <a:latin typeface="Poppins"/>
                <a:ea typeface="Poppins"/>
                <a:cs typeface="Poppins"/>
                <a:sym typeface="Poppins"/>
              </a:rPr>
              <a:t>Feedback is subjective, delayed, or minimal.</a:t>
            </a:r>
          </a:p>
          <a:p>
            <a:pPr algn="just" marL="578611" indent="-289306" lvl="1">
              <a:lnSpc>
                <a:spcPts val="5225"/>
              </a:lnSpc>
              <a:buFont typeface="Arial"/>
              <a:buChar char="•"/>
            </a:pPr>
            <a:r>
              <a:rPr lang="en-US" sz="2679">
                <a:solidFill>
                  <a:srgbClr val="000000"/>
                </a:solidFill>
                <a:latin typeface="Poppins"/>
                <a:ea typeface="Poppins"/>
                <a:cs typeface="Poppins"/>
                <a:sym typeface="Poppins"/>
              </a:rPr>
              <a:t>Not scalable for large numbers of students.</a:t>
            </a:r>
          </a:p>
          <a:p>
            <a:pPr algn="just" marL="578611" indent="-289306" lvl="1">
              <a:lnSpc>
                <a:spcPts val="5225"/>
              </a:lnSpc>
              <a:buFont typeface="Arial"/>
              <a:buChar char="•"/>
            </a:pPr>
            <a:r>
              <a:rPr lang="en-US" sz="2679">
                <a:solidFill>
                  <a:srgbClr val="000000"/>
                </a:solidFill>
                <a:latin typeface="Poppins"/>
                <a:ea typeface="Poppins"/>
                <a:cs typeface="Poppins"/>
                <a:sym typeface="Poppins"/>
              </a:rPr>
              <a:t>Does not provide data-driven performance analysis.</a:t>
            </a:r>
          </a:p>
        </p:txBody>
      </p:sp>
      <p:sp>
        <p:nvSpPr>
          <p:cNvPr name="TextBox 16" id="16"/>
          <p:cNvSpPr txBox="true"/>
          <p:nvPr/>
        </p:nvSpPr>
        <p:spPr>
          <a:xfrm rot="0">
            <a:off x="7991835" y="954832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910158" y="2209640"/>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10266006"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PROPOSED SYSTEM</a:t>
            </a:r>
          </a:p>
        </p:txBody>
      </p:sp>
      <p:sp>
        <p:nvSpPr>
          <p:cNvPr name="TextBox 15" id="15"/>
          <p:cNvSpPr txBox="true"/>
          <p:nvPr/>
        </p:nvSpPr>
        <p:spPr>
          <a:xfrm rot="0">
            <a:off x="848620" y="2321610"/>
            <a:ext cx="13111119" cy="5028371"/>
          </a:xfrm>
          <a:prstGeom prst="rect">
            <a:avLst/>
          </a:prstGeom>
        </p:spPr>
        <p:txBody>
          <a:bodyPr anchor="t" rtlCol="false" tIns="0" lIns="0" bIns="0" rIns="0">
            <a:spAutoFit/>
          </a:bodyPr>
          <a:lstStyle/>
          <a:p>
            <a:pPr algn="just" marL="574768" indent="-287384" lvl="1">
              <a:lnSpc>
                <a:spcPts val="5750"/>
              </a:lnSpc>
              <a:buFont typeface="Arial"/>
              <a:buChar char="•"/>
            </a:pPr>
            <a:r>
              <a:rPr lang="en-US" sz="2662">
                <a:solidFill>
                  <a:srgbClr val="000000"/>
                </a:solidFill>
                <a:latin typeface="Poppins"/>
                <a:ea typeface="Poppins"/>
                <a:cs typeface="Poppins"/>
                <a:sym typeface="Poppins"/>
              </a:rPr>
              <a:t>Generates intelligent, real-time, company-specific interview questions.</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Analyzes candidate responses using advanced NLP techniques.</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Assesses both technical skills and behavioral attributes effectively.</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Reduces manual effort in conducting and evaluating interviews.</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Provides automated scoring and insightful performance analytics.</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Improves hiring decision accuracy with data-driven insights.</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Enhances candidate experience with AI-supported interactions..</a:t>
            </a:r>
          </a:p>
        </p:txBody>
      </p:sp>
      <p:sp>
        <p:nvSpPr>
          <p:cNvPr name="TextBox 16" id="16"/>
          <p:cNvSpPr txBox="true"/>
          <p:nvPr/>
        </p:nvSpPr>
        <p:spPr>
          <a:xfrm rot="0">
            <a:off x="7910158"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943113" y="1909561"/>
            <a:ext cx="11935807" cy="12697667"/>
          </a:xfrm>
          <a:custGeom>
            <a:avLst/>
            <a:gdLst/>
            <a:ahLst/>
            <a:cxnLst/>
            <a:rect r="r" b="b" t="t" l="l"/>
            <a:pathLst>
              <a:path h="12697667" w="11935807">
                <a:moveTo>
                  <a:pt x="0" y="0"/>
                </a:moveTo>
                <a:lnTo>
                  <a:pt x="11935807" y="0"/>
                </a:lnTo>
                <a:lnTo>
                  <a:pt x="11935807" y="12697666"/>
                </a:lnTo>
                <a:lnTo>
                  <a:pt x="0" y="12697666"/>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862237" y="1284416"/>
            <a:ext cx="5156116" cy="7739011"/>
          </a:xfrm>
          <a:custGeom>
            <a:avLst/>
            <a:gdLst/>
            <a:ahLst/>
            <a:cxnLst/>
            <a:rect r="r" b="b" t="t" l="l"/>
            <a:pathLst>
              <a:path h="7739011" w="5156116">
                <a:moveTo>
                  <a:pt x="0" y="0"/>
                </a:moveTo>
                <a:lnTo>
                  <a:pt x="5156116" y="0"/>
                </a:lnTo>
                <a:lnTo>
                  <a:pt x="5156116" y="7739011"/>
                </a:lnTo>
                <a:lnTo>
                  <a:pt x="0" y="7739011"/>
                </a:lnTo>
                <a:lnTo>
                  <a:pt x="0" y="0"/>
                </a:lnTo>
                <a:close/>
              </a:path>
            </a:pathLst>
          </a:custGeom>
          <a:blipFill>
            <a:blip r:embed="rId5"/>
            <a:stretch>
              <a:fillRect l="0" t="0" r="0" b="0"/>
            </a:stretch>
          </a:blipFill>
        </p:spPr>
      </p:sp>
      <p:sp>
        <p:nvSpPr>
          <p:cNvPr name="TextBox 15" id="15"/>
          <p:cNvSpPr txBox="true"/>
          <p:nvPr/>
        </p:nvSpPr>
        <p:spPr>
          <a:xfrm rot="0">
            <a:off x="1028700" y="790575"/>
            <a:ext cx="6236709"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FLOW DIAGRAM</a:t>
            </a:r>
          </a:p>
        </p:txBody>
      </p:sp>
      <p:sp>
        <p:nvSpPr>
          <p:cNvPr name="TextBox 16" id="16"/>
          <p:cNvSpPr txBox="true"/>
          <p:nvPr/>
        </p:nvSpPr>
        <p:spPr>
          <a:xfrm rot="0">
            <a:off x="839661" y="2267746"/>
            <a:ext cx="8022576" cy="6358883"/>
          </a:xfrm>
          <a:prstGeom prst="rect">
            <a:avLst/>
          </a:prstGeom>
        </p:spPr>
        <p:txBody>
          <a:bodyPr anchor="t" rtlCol="false" tIns="0" lIns="0" bIns="0" rIns="0">
            <a:spAutoFit/>
          </a:bodyPr>
          <a:lstStyle/>
          <a:p>
            <a:pPr algn="l" marL="428092" indent="-214046" lvl="1">
              <a:lnSpc>
                <a:spcPts val="3906"/>
              </a:lnSpc>
              <a:buFont typeface="Arial"/>
              <a:buChar char="•"/>
            </a:pPr>
            <a:r>
              <a:rPr lang="en-US" sz="1982">
                <a:solidFill>
                  <a:srgbClr val="000000"/>
                </a:solidFill>
                <a:latin typeface="Poppins"/>
                <a:ea typeface="Poppins"/>
                <a:cs typeface="Poppins"/>
                <a:sym typeface="Poppins"/>
              </a:rPr>
              <a:t>The candidate registers on the system and uploads their resume.</a:t>
            </a:r>
          </a:p>
          <a:p>
            <a:pPr algn="l" marL="428092" indent="-214046" lvl="1">
              <a:lnSpc>
                <a:spcPts val="3906"/>
              </a:lnSpc>
              <a:buFont typeface="Arial"/>
              <a:buChar char="•"/>
            </a:pPr>
            <a:r>
              <a:rPr lang="en-US" sz="1982">
                <a:solidFill>
                  <a:srgbClr val="000000"/>
                </a:solidFill>
                <a:latin typeface="Poppins"/>
                <a:ea typeface="Poppins"/>
                <a:cs typeface="Poppins"/>
                <a:sym typeface="Poppins"/>
              </a:rPr>
              <a:t>The system extracts and analyzes resume details using NLP techniques.</a:t>
            </a:r>
          </a:p>
          <a:p>
            <a:pPr algn="l" marL="428092" indent="-214046" lvl="1">
              <a:lnSpc>
                <a:spcPts val="3906"/>
              </a:lnSpc>
              <a:buFont typeface="Arial"/>
              <a:buChar char="•"/>
            </a:pPr>
            <a:r>
              <a:rPr lang="en-US" sz="1982">
                <a:solidFill>
                  <a:srgbClr val="000000"/>
                </a:solidFill>
                <a:latin typeface="Poppins"/>
                <a:ea typeface="Poppins"/>
                <a:cs typeface="Poppins"/>
                <a:sym typeface="Poppins"/>
              </a:rPr>
              <a:t>Large Language Models generate role-specific interview questions dynamically.</a:t>
            </a:r>
          </a:p>
          <a:p>
            <a:pPr algn="l" marL="428092" indent="-214046" lvl="1">
              <a:lnSpc>
                <a:spcPts val="3906"/>
              </a:lnSpc>
              <a:buFont typeface="Arial"/>
              <a:buChar char="•"/>
            </a:pPr>
            <a:r>
              <a:rPr lang="en-US" sz="1982">
                <a:solidFill>
                  <a:srgbClr val="000000"/>
                </a:solidFill>
                <a:latin typeface="Poppins"/>
                <a:ea typeface="Poppins"/>
                <a:cs typeface="Poppins"/>
                <a:sym typeface="Poppins"/>
              </a:rPr>
              <a:t>The candidate attends AI-driven assessment and interview rounds.</a:t>
            </a:r>
          </a:p>
          <a:p>
            <a:pPr algn="l" marL="428092" indent="-214046" lvl="1">
              <a:lnSpc>
                <a:spcPts val="3906"/>
              </a:lnSpc>
              <a:buFont typeface="Arial"/>
              <a:buChar char="•"/>
            </a:pPr>
            <a:r>
              <a:rPr lang="en-US" sz="1982">
                <a:solidFill>
                  <a:srgbClr val="000000"/>
                </a:solidFill>
                <a:latin typeface="Poppins"/>
                <a:ea typeface="Poppins"/>
                <a:cs typeface="Poppins"/>
                <a:sym typeface="Poppins"/>
              </a:rPr>
              <a:t>The system analyzes responses and performs automated scoring.</a:t>
            </a:r>
          </a:p>
          <a:p>
            <a:pPr algn="l" marL="428092" indent="-214046" lvl="1">
              <a:lnSpc>
                <a:spcPts val="3906"/>
              </a:lnSpc>
              <a:buFont typeface="Arial"/>
              <a:buChar char="•"/>
            </a:pPr>
            <a:r>
              <a:rPr lang="en-US" sz="1982">
                <a:solidFill>
                  <a:srgbClr val="000000"/>
                </a:solidFill>
                <a:latin typeface="Poppins"/>
                <a:ea typeface="Poppins"/>
                <a:cs typeface="Poppins"/>
                <a:sym typeface="Poppins"/>
              </a:rPr>
              <a:t>Performance reports and hiring recommendations are generated for HR review.</a:t>
            </a:r>
          </a:p>
          <a:p>
            <a:pPr algn="l">
              <a:lnSpc>
                <a:spcPts val="3906"/>
              </a:lnSpc>
            </a:pPr>
          </a:p>
        </p:txBody>
      </p:sp>
      <p:sp>
        <p:nvSpPr>
          <p:cNvPr name="TextBox 17" id="17"/>
          <p:cNvSpPr txBox="true"/>
          <p:nvPr/>
        </p:nvSpPr>
        <p:spPr>
          <a:xfrm rot="0">
            <a:off x="7541634" y="93682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8440963" y="1028700"/>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3654853" y="1973252"/>
            <a:ext cx="5759765" cy="7285048"/>
          </a:xfrm>
          <a:custGeom>
            <a:avLst/>
            <a:gdLst/>
            <a:ahLst/>
            <a:cxnLst/>
            <a:rect r="r" b="b" t="t" l="l"/>
            <a:pathLst>
              <a:path h="7285048" w="5759765">
                <a:moveTo>
                  <a:pt x="0" y="0"/>
                </a:moveTo>
                <a:lnTo>
                  <a:pt x="5759765" y="0"/>
                </a:lnTo>
                <a:lnTo>
                  <a:pt x="5759765" y="7285048"/>
                </a:lnTo>
                <a:lnTo>
                  <a:pt x="0" y="7285048"/>
                </a:lnTo>
                <a:lnTo>
                  <a:pt x="0" y="0"/>
                </a:lnTo>
                <a:close/>
              </a:path>
            </a:pathLst>
          </a:custGeom>
          <a:blipFill>
            <a:blip r:embed="rId5"/>
            <a:stretch>
              <a:fillRect l="0" t="0" r="-711" b="0"/>
            </a:stretch>
          </a:blipFill>
        </p:spPr>
      </p:sp>
      <p:sp>
        <p:nvSpPr>
          <p:cNvPr name="TextBox 15" id="15"/>
          <p:cNvSpPr txBox="true"/>
          <p:nvPr/>
        </p:nvSpPr>
        <p:spPr>
          <a:xfrm rot="0">
            <a:off x="1028700" y="626993"/>
            <a:ext cx="9815806"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ARCHITECTURE  DIAGRAM</a:t>
            </a:r>
          </a:p>
        </p:txBody>
      </p:sp>
      <p:sp>
        <p:nvSpPr>
          <p:cNvPr name="TextBox 16" id="16"/>
          <p:cNvSpPr txBox="true"/>
          <p:nvPr/>
        </p:nvSpPr>
        <p:spPr>
          <a:xfrm rot="0">
            <a:off x="7541634" y="93682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695106" y="1028700"/>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2006855" y="1639620"/>
            <a:ext cx="3222322" cy="6635534"/>
          </a:xfrm>
          <a:custGeom>
            <a:avLst/>
            <a:gdLst/>
            <a:ahLst/>
            <a:cxnLst/>
            <a:rect r="r" b="b" t="t" l="l"/>
            <a:pathLst>
              <a:path h="6635534" w="3222322">
                <a:moveTo>
                  <a:pt x="0" y="0"/>
                </a:moveTo>
                <a:lnTo>
                  <a:pt x="3222322" y="0"/>
                </a:lnTo>
                <a:lnTo>
                  <a:pt x="3222322" y="6635535"/>
                </a:lnTo>
                <a:lnTo>
                  <a:pt x="0" y="6635535"/>
                </a:lnTo>
                <a:lnTo>
                  <a:pt x="0" y="0"/>
                </a:lnTo>
                <a:close/>
              </a:path>
            </a:pathLst>
          </a:custGeom>
          <a:blipFill>
            <a:blip r:embed="rId5"/>
            <a:stretch>
              <a:fillRect l="0" t="-605" r="-1342" b="-605"/>
            </a:stretch>
          </a:blipFill>
        </p:spPr>
      </p:sp>
      <p:sp>
        <p:nvSpPr>
          <p:cNvPr name="Freeform 15" id="15"/>
          <p:cNvSpPr/>
          <p:nvPr/>
        </p:nvSpPr>
        <p:spPr>
          <a:xfrm flipH="false" flipV="false" rot="0">
            <a:off x="6406349" y="2429906"/>
            <a:ext cx="6412619" cy="5338506"/>
          </a:xfrm>
          <a:custGeom>
            <a:avLst/>
            <a:gdLst/>
            <a:ahLst/>
            <a:cxnLst/>
            <a:rect r="r" b="b" t="t" l="l"/>
            <a:pathLst>
              <a:path h="5338506" w="6412619">
                <a:moveTo>
                  <a:pt x="0" y="0"/>
                </a:moveTo>
                <a:lnTo>
                  <a:pt x="6412619" y="0"/>
                </a:lnTo>
                <a:lnTo>
                  <a:pt x="6412619" y="5338506"/>
                </a:lnTo>
                <a:lnTo>
                  <a:pt x="0" y="5338506"/>
                </a:lnTo>
                <a:lnTo>
                  <a:pt x="0" y="0"/>
                </a:lnTo>
                <a:close/>
              </a:path>
            </a:pathLst>
          </a:custGeom>
          <a:blipFill>
            <a:blip r:embed="rId6"/>
            <a:stretch>
              <a:fillRect l="0" t="0" r="0" b="0"/>
            </a:stretch>
          </a:blipFill>
        </p:spPr>
      </p:sp>
      <p:sp>
        <p:nvSpPr>
          <p:cNvPr name="TextBox 16" id="16"/>
          <p:cNvSpPr txBox="true"/>
          <p:nvPr/>
        </p:nvSpPr>
        <p:spPr>
          <a:xfrm rot="0">
            <a:off x="1498446" y="520635"/>
            <a:ext cx="9815806"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UML DIAGRAM</a:t>
            </a:r>
          </a:p>
        </p:txBody>
      </p:sp>
      <p:sp>
        <p:nvSpPr>
          <p:cNvPr name="TextBox 17" id="17"/>
          <p:cNvSpPr txBox="true"/>
          <p:nvPr/>
        </p:nvSpPr>
        <p:spPr>
          <a:xfrm rot="0">
            <a:off x="7541634" y="93682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name="TextBox 18" id="18"/>
          <p:cNvSpPr txBox="true"/>
          <p:nvPr/>
        </p:nvSpPr>
        <p:spPr>
          <a:xfrm rot="0">
            <a:off x="2535425" y="8434746"/>
            <a:ext cx="2157106" cy="353808"/>
          </a:xfrm>
          <a:prstGeom prst="rect">
            <a:avLst/>
          </a:prstGeom>
        </p:spPr>
        <p:txBody>
          <a:bodyPr anchor="t" rtlCol="false" tIns="0" lIns="0" bIns="0" rIns="0">
            <a:spAutoFit/>
          </a:bodyPr>
          <a:lstStyle/>
          <a:p>
            <a:pPr algn="l">
              <a:lnSpc>
                <a:spcPts val="2548"/>
              </a:lnSpc>
              <a:spcBef>
                <a:spcPct val="0"/>
              </a:spcBef>
            </a:pPr>
            <a:r>
              <a:rPr lang="en-US" sz="1820">
                <a:solidFill>
                  <a:srgbClr val="000000"/>
                </a:solidFill>
                <a:latin typeface="Accordion Black"/>
                <a:ea typeface="Accordion Black"/>
                <a:cs typeface="Accordion Black"/>
                <a:sym typeface="Accordion Black"/>
              </a:rPr>
              <a:t>USECASE DIAGRAM</a:t>
            </a:r>
          </a:p>
        </p:txBody>
      </p:sp>
      <p:sp>
        <p:nvSpPr>
          <p:cNvPr name="TextBox 19" id="19"/>
          <p:cNvSpPr txBox="true"/>
          <p:nvPr/>
        </p:nvSpPr>
        <p:spPr>
          <a:xfrm rot="0">
            <a:off x="8262704" y="8189430"/>
            <a:ext cx="2157106" cy="353808"/>
          </a:xfrm>
          <a:prstGeom prst="rect">
            <a:avLst/>
          </a:prstGeom>
        </p:spPr>
        <p:txBody>
          <a:bodyPr anchor="t" rtlCol="false" tIns="0" lIns="0" bIns="0" rIns="0">
            <a:spAutoFit/>
          </a:bodyPr>
          <a:lstStyle/>
          <a:p>
            <a:pPr algn="l">
              <a:lnSpc>
                <a:spcPts val="2548"/>
              </a:lnSpc>
              <a:spcBef>
                <a:spcPct val="0"/>
              </a:spcBef>
            </a:pPr>
            <a:r>
              <a:rPr lang="en-US" sz="1820">
                <a:solidFill>
                  <a:srgbClr val="000000"/>
                </a:solidFill>
                <a:latin typeface="Accordion Black"/>
                <a:ea typeface="Accordion Black"/>
                <a:cs typeface="Accordion Black"/>
                <a:sym typeface="Accordion Black"/>
              </a:rPr>
              <a:t>CLASS DIAGRAM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9098257" y="1380749"/>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768779" y="2361704"/>
            <a:ext cx="6772855" cy="4815219"/>
          </a:xfrm>
          <a:custGeom>
            <a:avLst/>
            <a:gdLst/>
            <a:ahLst/>
            <a:cxnLst/>
            <a:rect r="r" b="b" t="t" l="l"/>
            <a:pathLst>
              <a:path h="4815219" w="6772855">
                <a:moveTo>
                  <a:pt x="0" y="0"/>
                </a:moveTo>
                <a:lnTo>
                  <a:pt x="6772855" y="0"/>
                </a:lnTo>
                <a:lnTo>
                  <a:pt x="6772855" y="4815219"/>
                </a:lnTo>
                <a:lnTo>
                  <a:pt x="0" y="4815219"/>
                </a:lnTo>
                <a:lnTo>
                  <a:pt x="0" y="0"/>
                </a:lnTo>
                <a:close/>
              </a:path>
            </a:pathLst>
          </a:custGeom>
          <a:blipFill>
            <a:blip r:embed="rId5"/>
            <a:stretch>
              <a:fillRect l="0" t="0" r="-5522" b="0"/>
            </a:stretch>
          </a:blipFill>
        </p:spPr>
      </p:sp>
      <p:sp>
        <p:nvSpPr>
          <p:cNvPr name="Freeform 15" id="15"/>
          <p:cNvSpPr/>
          <p:nvPr/>
        </p:nvSpPr>
        <p:spPr>
          <a:xfrm flipH="false" flipV="false" rot="0">
            <a:off x="8041465" y="2396109"/>
            <a:ext cx="6796096" cy="5122557"/>
          </a:xfrm>
          <a:custGeom>
            <a:avLst/>
            <a:gdLst/>
            <a:ahLst/>
            <a:cxnLst/>
            <a:rect r="r" b="b" t="t" l="l"/>
            <a:pathLst>
              <a:path h="5122557" w="6796096">
                <a:moveTo>
                  <a:pt x="0" y="0"/>
                </a:moveTo>
                <a:lnTo>
                  <a:pt x="6796096" y="0"/>
                </a:lnTo>
                <a:lnTo>
                  <a:pt x="6796096" y="5122557"/>
                </a:lnTo>
                <a:lnTo>
                  <a:pt x="0" y="5122557"/>
                </a:lnTo>
                <a:lnTo>
                  <a:pt x="0" y="0"/>
                </a:lnTo>
                <a:close/>
              </a:path>
            </a:pathLst>
          </a:custGeom>
          <a:blipFill>
            <a:blip r:embed="rId6"/>
            <a:stretch>
              <a:fillRect l="0" t="0" r="0" b="0"/>
            </a:stretch>
          </a:blipFill>
        </p:spPr>
      </p:sp>
      <p:sp>
        <p:nvSpPr>
          <p:cNvPr name="TextBox 16" id="16"/>
          <p:cNvSpPr txBox="true"/>
          <p:nvPr/>
        </p:nvSpPr>
        <p:spPr>
          <a:xfrm rot="0">
            <a:off x="1498446" y="520635"/>
            <a:ext cx="9815806"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UML DIAGRAM</a:t>
            </a:r>
          </a:p>
        </p:txBody>
      </p:sp>
      <p:sp>
        <p:nvSpPr>
          <p:cNvPr name="TextBox 17" id="17"/>
          <p:cNvSpPr txBox="true"/>
          <p:nvPr/>
        </p:nvSpPr>
        <p:spPr>
          <a:xfrm rot="0">
            <a:off x="7541634" y="936824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
        <p:nvSpPr>
          <p:cNvPr name="TextBox 18" id="18"/>
          <p:cNvSpPr txBox="true"/>
          <p:nvPr/>
        </p:nvSpPr>
        <p:spPr>
          <a:xfrm rot="0">
            <a:off x="2750138" y="7375774"/>
            <a:ext cx="2157106" cy="353808"/>
          </a:xfrm>
          <a:prstGeom prst="rect">
            <a:avLst/>
          </a:prstGeom>
        </p:spPr>
        <p:txBody>
          <a:bodyPr anchor="t" rtlCol="false" tIns="0" lIns="0" bIns="0" rIns="0">
            <a:spAutoFit/>
          </a:bodyPr>
          <a:lstStyle/>
          <a:p>
            <a:pPr algn="l">
              <a:lnSpc>
                <a:spcPts val="2548"/>
              </a:lnSpc>
              <a:spcBef>
                <a:spcPct val="0"/>
              </a:spcBef>
            </a:pPr>
            <a:r>
              <a:rPr lang="en-US" sz="1820">
                <a:solidFill>
                  <a:srgbClr val="000000"/>
                </a:solidFill>
                <a:latin typeface="Accordion Black"/>
                <a:ea typeface="Accordion Black"/>
                <a:cs typeface="Accordion Black"/>
                <a:sym typeface="Accordion Black"/>
              </a:rPr>
              <a:t>ACTIVITY DIAGRAM</a:t>
            </a:r>
          </a:p>
        </p:txBody>
      </p:sp>
      <p:sp>
        <p:nvSpPr>
          <p:cNvPr name="TextBox 19" id="19"/>
          <p:cNvSpPr txBox="true"/>
          <p:nvPr/>
        </p:nvSpPr>
        <p:spPr>
          <a:xfrm rot="0">
            <a:off x="10235698" y="7509816"/>
            <a:ext cx="2467880" cy="353808"/>
          </a:xfrm>
          <a:prstGeom prst="rect">
            <a:avLst/>
          </a:prstGeom>
        </p:spPr>
        <p:txBody>
          <a:bodyPr anchor="t" rtlCol="false" tIns="0" lIns="0" bIns="0" rIns="0">
            <a:spAutoFit/>
          </a:bodyPr>
          <a:lstStyle/>
          <a:p>
            <a:pPr algn="l">
              <a:lnSpc>
                <a:spcPts val="2548"/>
              </a:lnSpc>
              <a:spcBef>
                <a:spcPct val="0"/>
              </a:spcBef>
            </a:pPr>
            <a:r>
              <a:rPr lang="en-US" sz="1820">
                <a:solidFill>
                  <a:srgbClr val="000000"/>
                </a:solidFill>
                <a:latin typeface="Accordion Black"/>
                <a:ea typeface="Accordion Black"/>
                <a:cs typeface="Accordion Black"/>
                <a:sym typeface="Accordion Black"/>
              </a:rPr>
              <a:t>SEQUENCE DIAGRAM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8086960" y="1893051"/>
            <a:ext cx="11935807" cy="12697667"/>
          </a:xfrm>
          <a:custGeom>
            <a:avLst/>
            <a:gdLst/>
            <a:ahLst/>
            <a:cxnLst/>
            <a:rect r="r" b="b" t="t" l="l"/>
            <a:pathLst>
              <a:path h="12697667" w="11935807">
                <a:moveTo>
                  <a:pt x="0" y="0"/>
                </a:moveTo>
                <a:lnTo>
                  <a:pt x="11935807" y="0"/>
                </a:lnTo>
                <a:lnTo>
                  <a:pt x="11935807" y="12697666"/>
                </a:lnTo>
                <a:lnTo>
                  <a:pt x="0" y="12697666"/>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9247309"/>
            <a:ext cx="469746" cy="469746"/>
            <a:chOff x="0" y="0"/>
            <a:chExt cx="123719" cy="123719"/>
          </a:xfrm>
        </p:grpSpPr>
        <p:sp>
          <p:nvSpPr>
            <p:cNvPr name="Freeform 5" id="5"/>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6" id="6"/>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71982" y="9247309"/>
            <a:ext cx="469746" cy="469746"/>
            <a:chOff x="0" y="0"/>
            <a:chExt cx="123719" cy="123719"/>
          </a:xfrm>
        </p:grpSpPr>
        <p:sp>
          <p:nvSpPr>
            <p:cNvPr name="Freeform 8" id="8"/>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9" id="9"/>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2517953" y="9247309"/>
            <a:ext cx="469746" cy="469746"/>
            <a:chOff x="0" y="0"/>
            <a:chExt cx="123719" cy="123719"/>
          </a:xfrm>
        </p:grpSpPr>
        <p:sp>
          <p:nvSpPr>
            <p:cNvPr name="Freeform 11" id="11"/>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2" id="12"/>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028700" y="790575"/>
            <a:ext cx="11107716" cy="1102476"/>
          </a:xfrm>
          <a:prstGeom prst="rect">
            <a:avLst/>
          </a:prstGeom>
        </p:spPr>
        <p:txBody>
          <a:bodyPr anchor="t" rtlCol="false" tIns="0" lIns="0" bIns="0" rIns="0">
            <a:spAutoFit/>
          </a:bodyPr>
          <a:lstStyle/>
          <a:p>
            <a:pPr algn="l">
              <a:lnSpc>
                <a:spcPts val="8008"/>
              </a:lnSpc>
              <a:spcBef>
                <a:spcPct val="0"/>
              </a:spcBef>
            </a:pPr>
            <a:r>
              <a:rPr lang="en-US" sz="5720">
                <a:solidFill>
                  <a:srgbClr val="000000"/>
                </a:solidFill>
                <a:latin typeface="Accordion Black"/>
                <a:ea typeface="Accordion Black"/>
                <a:cs typeface="Accordion Black"/>
                <a:sym typeface="Accordion Black"/>
              </a:rPr>
              <a:t>SOFTWARE REQUIREMENTS</a:t>
            </a:r>
          </a:p>
        </p:txBody>
      </p:sp>
      <p:sp>
        <p:nvSpPr>
          <p:cNvPr name="TextBox 14" id="14"/>
          <p:cNvSpPr txBox="true"/>
          <p:nvPr/>
        </p:nvSpPr>
        <p:spPr>
          <a:xfrm rot="0">
            <a:off x="1028700" y="2252780"/>
            <a:ext cx="11834984" cy="5968840"/>
          </a:xfrm>
          <a:prstGeom prst="rect">
            <a:avLst/>
          </a:prstGeom>
        </p:spPr>
        <p:txBody>
          <a:bodyPr anchor="t" rtlCol="false" tIns="0" lIns="0" bIns="0" rIns="0">
            <a:spAutoFit/>
          </a:bodyPr>
          <a:lstStyle/>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Operating System : </a:t>
            </a:r>
            <a:r>
              <a:rPr lang="en-US" sz="2538">
                <a:solidFill>
                  <a:srgbClr val="000000"/>
                </a:solidFill>
                <a:latin typeface="Poppins"/>
                <a:ea typeface="Poppins"/>
                <a:cs typeface="Poppins"/>
                <a:sym typeface="Poppins"/>
              </a:rPr>
              <a:t>Windows 10 / Linux</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Frontend Technologies : </a:t>
            </a:r>
            <a:r>
              <a:rPr lang="en-US" sz="2538">
                <a:solidFill>
                  <a:srgbClr val="000000"/>
                </a:solidFill>
                <a:latin typeface="Poppins"/>
                <a:ea typeface="Poppins"/>
                <a:cs typeface="Poppins"/>
                <a:sym typeface="Poppins"/>
              </a:rPr>
              <a:t>HTML, CSS, JavaScript</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Backend Technologies : </a:t>
            </a:r>
            <a:r>
              <a:rPr lang="en-US" sz="2538">
                <a:solidFill>
                  <a:srgbClr val="000000"/>
                </a:solidFill>
                <a:latin typeface="Poppins"/>
                <a:ea typeface="Poppins"/>
                <a:cs typeface="Poppins"/>
                <a:sym typeface="Poppins"/>
              </a:rPr>
              <a:t>Python with Django Framework</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Database :</a:t>
            </a:r>
            <a:r>
              <a:rPr lang="en-US" sz="2538">
                <a:solidFill>
                  <a:srgbClr val="000000"/>
                </a:solidFill>
                <a:latin typeface="Poppins"/>
                <a:ea typeface="Poppins"/>
                <a:cs typeface="Poppins"/>
                <a:sym typeface="Poppins"/>
              </a:rPr>
              <a:t> MySQL</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AI &amp; NLP Tools : </a:t>
            </a:r>
            <a:r>
              <a:rPr lang="en-US" sz="2538">
                <a:solidFill>
                  <a:srgbClr val="000000"/>
                </a:solidFill>
                <a:latin typeface="Poppins"/>
                <a:ea typeface="Poppins"/>
                <a:cs typeface="Poppins"/>
                <a:sym typeface="Poppins"/>
              </a:rPr>
              <a:t>Large Language Models (LLMs), Natural Language Processing (NLP), Transformer-based Models (BERT, GPT)</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Machine Learning Frameworks : </a:t>
            </a:r>
            <a:r>
              <a:rPr lang="en-US" sz="2538">
                <a:solidFill>
                  <a:srgbClr val="000000"/>
                </a:solidFill>
                <a:latin typeface="Poppins"/>
                <a:ea typeface="Poppins"/>
                <a:cs typeface="Poppins"/>
                <a:sym typeface="Poppins"/>
              </a:rPr>
              <a:t>TensorFlow / Keras</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Development Tools : </a:t>
            </a:r>
            <a:r>
              <a:rPr lang="en-US" sz="2538">
                <a:solidFill>
                  <a:srgbClr val="000000"/>
                </a:solidFill>
                <a:latin typeface="Poppins"/>
                <a:ea typeface="Poppins"/>
                <a:cs typeface="Poppins"/>
                <a:sym typeface="Poppins"/>
              </a:rPr>
              <a:t>Anaconda Navigator, Jupyter Notebook, Visual Studio Code</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Web Browser : </a:t>
            </a:r>
            <a:r>
              <a:rPr lang="en-US" sz="2538">
                <a:solidFill>
                  <a:srgbClr val="000000"/>
                </a:solidFill>
                <a:latin typeface="Poppins"/>
                <a:ea typeface="Poppins"/>
                <a:cs typeface="Poppins"/>
                <a:sym typeface="Poppins"/>
              </a:rPr>
              <a:t>Google Chrome / Microsoft Edge</a:t>
            </a:r>
          </a:p>
        </p:txBody>
      </p:sp>
      <p:sp>
        <p:nvSpPr>
          <p:cNvPr name="TextBox 15" id="15"/>
          <p:cNvSpPr txBox="true"/>
          <p:nvPr/>
        </p:nvSpPr>
        <p:spPr>
          <a:xfrm rot="0">
            <a:off x="8818035" y="9283744"/>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541634" y="1162569"/>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8546435"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REFERENCES</a:t>
            </a:r>
          </a:p>
        </p:txBody>
      </p:sp>
      <p:sp>
        <p:nvSpPr>
          <p:cNvPr name="TextBox 15" id="15"/>
          <p:cNvSpPr txBox="true"/>
          <p:nvPr/>
        </p:nvSpPr>
        <p:spPr>
          <a:xfrm rot="0">
            <a:off x="1044142" y="2375587"/>
            <a:ext cx="11844759" cy="6362477"/>
          </a:xfrm>
          <a:prstGeom prst="rect">
            <a:avLst/>
          </a:prstGeom>
        </p:spPr>
        <p:txBody>
          <a:bodyPr anchor="t" rtlCol="false" tIns="0" lIns="0" bIns="0" rIns="0">
            <a:spAutoFit/>
          </a:bodyPr>
          <a:lstStyle/>
          <a:p>
            <a:pPr algn="l">
              <a:lnSpc>
                <a:spcPts val="4645"/>
              </a:lnSpc>
            </a:pPr>
            <a:r>
              <a:rPr lang="en-US" sz="2432">
                <a:solidFill>
                  <a:srgbClr val="000000"/>
                </a:solidFill>
                <a:latin typeface="Poppins"/>
                <a:ea typeface="Poppins"/>
                <a:cs typeface="Poppins"/>
                <a:sym typeface="Poppins"/>
              </a:rPr>
              <a:t>1) Bhavana Amrutha Mandalapu et al., </a:t>
            </a:r>
            <a:r>
              <a:rPr lang="en-US" sz="2432" b="true">
                <a:solidFill>
                  <a:srgbClr val="000000"/>
                </a:solidFill>
                <a:latin typeface="Poppins Bold"/>
                <a:ea typeface="Poppins Bold"/>
                <a:cs typeface="Poppins Bold"/>
                <a:sym typeface="Poppins Bold"/>
              </a:rPr>
              <a:t>“Enhancing Interview Evaluation: AI-Based Emotion and Confidence Analysis in Mock Interviews”</a:t>
            </a:r>
            <a:r>
              <a:rPr lang="en-US" sz="2432">
                <a:solidFill>
                  <a:srgbClr val="000000"/>
                </a:solidFill>
                <a:latin typeface="Poppins"/>
                <a:ea typeface="Poppins"/>
                <a:cs typeface="Poppins"/>
                <a:sym typeface="Poppins"/>
              </a:rPr>
              <a:t>, 2024</a:t>
            </a:r>
          </a:p>
          <a:p>
            <a:pPr algn="l">
              <a:lnSpc>
                <a:spcPts val="4645"/>
              </a:lnSpc>
            </a:pPr>
            <a:r>
              <a:rPr lang="en-US" sz="2432">
                <a:solidFill>
                  <a:srgbClr val="000000"/>
                </a:solidFill>
                <a:latin typeface="Poppins"/>
                <a:ea typeface="Poppins"/>
                <a:cs typeface="Poppins"/>
                <a:sym typeface="Poppins"/>
              </a:rPr>
              <a:t>2) </a:t>
            </a:r>
            <a:r>
              <a:rPr lang="en-US" sz="2432">
                <a:solidFill>
                  <a:srgbClr val="000000"/>
                </a:solidFill>
                <a:latin typeface="Poppins"/>
                <a:ea typeface="Poppins"/>
                <a:cs typeface="Poppins"/>
                <a:sym typeface="Poppins"/>
              </a:rPr>
              <a:t>Chintalapati P. V. et al., </a:t>
            </a:r>
            <a:r>
              <a:rPr lang="en-US" sz="2432" b="true">
                <a:solidFill>
                  <a:srgbClr val="000000"/>
                </a:solidFill>
                <a:latin typeface="Poppins Bold"/>
                <a:ea typeface="Poppins Bold"/>
                <a:cs typeface="Poppins Bold"/>
                <a:sym typeface="Poppins Bold"/>
              </a:rPr>
              <a:t>“A Research Model for Automated Prediction and Analysis of Job Interview Performance”</a:t>
            </a:r>
            <a:r>
              <a:rPr lang="en-US" sz="2432">
                <a:solidFill>
                  <a:srgbClr val="000000"/>
                </a:solidFill>
                <a:latin typeface="Poppins"/>
                <a:ea typeface="Poppins"/>
                <a:cs typeface="Poppins"/>
                <a:sym typeface="Poppins"/>
              </a:rPr>
              <a:t>, 2024</a:t>
            </a:r>
          </a:p>
          <a:p>
            <a:pPr algn="l">
              <a:lnSpc>
                <a:spcPts val="4645"/>
              </a:lnSpc>
            </a:pPr>
            <a:r>
              <a:rPr lang="en-US" sz="2432">
                <a:solidFill>
                  <a:srgbClr val="000000"/>
                </a:solidFill>
                <a:latin typeface="Poppins"/>
                <a:ea typeface="Poppins"/>
                <a:cs typeface="Poppins"/>
                <a:sym typeface="Poppins"/>
              </a:rPr>
              <a:t>3) </a:t>
            </a:r>
            <a:r>
              <a:rPr lang="en-US" sz="2432">
                <a:solidFill>
                  <a:srgbClr val="000000"/>
                </a:solidFill>
                <a:latin typeface="Poppins"/>
                <a:ea typeface="Poppins"/>
                <a:cs typeface="Poppins"/>
                <a:sym typeface="Poppins"/>
              </a:rPr>
              <a:t>M. Kaviya et al., </a:t>
            </a:r>
            <a:r>
              <a:rPr lang="en-US" sz="2432" b="true">
                <a:solidFill>
                  <a:srgbClr val="000000"/>
                </a:solidFill>
                <a:latin typeface="Poppins Bold"/>
                <a:ea typeface="Poppins Bold"/>
                <a:cs typeface="Poppins Bold"/>
                <a:sym typeface="Poppins Bold"/>
              </a:rPr>
              <a:t>“AI-Based Mock Interview Evaluator: An Emotion and Confidence Classifier Model”</a:t>
            </a:r>
            <a:r>
              <a:rPr lang="en-US" sz="2432">
                <a:solidFill>
                  <a:srgbClr val="000000"/>
                </a:solidFill>
                <a:latin typeface="Poppins"/>
                <a:ea typeface="Poppins"/>
                <a:cs typeface="Poppins"/>
                <a:sym typeface="Poppins"/>
              </a:rPr>
              <a:t>, 2024</a:t>
            </a:r>
          </a:p>
          <a:p>
            <a:pPr algn="l">
              <a:lnSpc>
                <a:spcPts val="4645"/>
              </a:lnSpc>
            </a:pPr>
            <a:r>
              <a:rPr lang="en-US" sz="2432">
                <a:solidFill>
                  <a:srgbClr val="000000"/>
                </a:solidFill>
                <a:latin typeface="Poppins"/>
                <a:ea typeface="Poppins"/>
                <a:cs typeface="Poppins"/>
                <a:sym typeface="Poppins"/>
              </a:rPr>
              <a:t>4) </a:t>
            </a:r>
            <a:r>
              <a:rPr lang="en-US" sz="2432">
                <a:solidFill>
                  <a:srgbClr val="000000"/>
                </a:solidFill>
                <a:latin typeface="Poppins"/>
                <a:ea typeface="Poppins"/>
                <a:cs typeface="Poppins"/>
                <a:sym typeface="Poppins"/>
              </a:rPr>
              <a:t>Yi-Chi Chou et al., </a:t>
            </a:r>
            <a:r>
              <a:rPr lang="en-US" sz="2432" b="true">
                <a:solidFill>
                  <a:srgbClr val="000000"/>
                </a:solidFill>
                <a:latin typeface="Poppins Bold"/>
                <a:ea typeface="Poppins Bold"/>
                <a:cs typeface="Poppins Bold"/>
                <a:sym typeface="Poppins Bold"/>
              </a:rPr>
              <a:t>“An AI Mock-interview Platform for Interview Performance Analysis”</a:t>
            </a:r>
            <a:r>
              <a:rPr lang="en-US" sz="2432">
                <a:solidFill>
                  <a:srgbClr val="000000"/>
                </a:solidFill>
                <a:latin typeface="Poppins"/>
                <a:ea typeface="Poppins"/>
                <a:cs typeface="Poppins"/>
                <a:sym typeface="Poppins"/>
              </a:rPr>
              <a:t>, 2022</a:t>
            </a:r>
          </a:p>
          <a:p>
            <a:pPr algn="l">
              <a:lnSpc>
                <a:spcPts val="4645"/>
              </a:lnSpc>
            </a:pPr>
            <a:r>
              <a:rPr lang="en-US" sz="2432">
                <a:solidFill>
                  <a:srgbClr val="000000"/>
                </a:solidFill>
                <a:latin typeface="Poppins"/>
                <a:ea typeface="Poppins"/>
                <a:cs typeface="Poppins"/>
                <a:sym typeface="Poppins"/>
              </a:rPr>
              <a:t>5) </a:t>
            </a:r>
            <a:r>
              <a:rPr lang="en-US" sz="2432">
                <a:solidFill>
                  <a:srgbClr val="000000"/>
                </a:solidFill>
                <a:latin typeface="Poppins"/>
                <a:ea typeface="Poppins"/>
                <a:cs typeface="Poppins"/>
                <a:sym typeface="Poppins"/>
              </a:rPr>
              <a:t>S. Sivaramakrishnan, F. Z. Minni, A. Anand, A. Sahoo, B. Hemang, </a:t>
            </a:r>
            <a:r>
              <a:rPr lang="en-US" sz="2432" b="true">
                <a:solidFill>
                  <a:srgbClr val="000000"/>
                </a:solidFill>
                <a:latin typeface="Poppins Bold"/>
                <a:ea typeface="Poppins Bold"/>
                <a:cs typeface="Poppins Bold"/>
                <a:sym typeface="Poppins Bold"/>
              </a:rPr>
              <a:t>“Real time mock interview evaluation using CNN”</a:t>
            </a:r>
            <a:r>
              <a:rPr lang="en-US" sz="2432">
                <a:solidFill>
                  <a:srgbClr val="000000"/>
                </a:solidFill>
                <a:latin typeface="Poppins"/>
                <a:ea typeface="Poppins"/>
                <a:cs typeface="Poppins"/>
                <a:sym typeface="Poppins"/>
              </a:rPr>
              <a:t>, 2024</a:t>
            </a:r>
          </a:p>
          <a:p>
            <a:pPr algn="l">
              <a:lnSpc>
                <a:spcPts val="4645"/>
              </a:lnSpc>
            </a:pPr>
          </a:p>
        </p:txBody>
      </p:sp>
      <p:sp>
        <p:nvSpPr>
          <p:cNvPr name="TextBox 16" id="16"/>
          <p:cNvSpPr txBox="true"/>
          <p:nvPr/>
        </p:nvSpPr>
        <p:spPr>
          <a:xfrm rot="0">
            <a:off x="7962654"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541634" y="1162569"/>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8546435"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CONCLUSION</a:t>
            </a:r>
          </a:p>
        </p:txBody>
      </p:sp>
      <p:sp>
        <p:nvSpPr>
          <p:cNvPr name="TextBox 15" id="15"/>
          <p:cNvSpPr txBox="true"/>
          <p:nvPr/>
        </p:nvSpPr>
        <p:spPr>
          <a:xfrm rot="0">
            <a:off x="1028700" y="2366062"/>
            <a:ext cx="11809978" cy="4848511"/>
          </a:xfrm>
          <a:prstGeom prst="rect">
            <a:avLst/>
          </a:prstGeom>
        </p:spPr>
        <p:txBody>
          <a:bodyPr anchor="t" rtlCol="false" tIns="0" lIns="0" bIns="0" rIns="0">
            <a:spAutoFit/>
          </a:bodyPr>
          <a:lstStyle/>
          <a:p>
            <a:pPr algn="just">
              <a:lnSpc>
                <a:spcPts val="4836"/>
              </a:lnSpc>
            </a:pPr>
            <a:r>
              <a:rPr lang="en-US" sz="2532">
                <a:solidFill>
                  <a:srgbClr val="000000"/>
                </a:solidFill>
                <a:latin typeface="Poppins"/>
                <a:ea typeface="Poppins"/>
                <a:cs typeface="Poppins"/>
                <a:sym typeface="Poppins"/>
              </a:rPr>
              <a:t>Students often lack access to realistic, company-specific interview practice, as existing platforms offer generic questions and limited feedback. Manual mock interviews are difficult to scale and depend on experienced interviewers. To address this gap, the project proposes an AI-based mock interview system that simulates real-time, company-specific interviews, evaluates responses, and provides structured feedback to improve students’ technical skills, communication, confidence, and overall placement readiness.</a:t>
            </a:r>
          </a:p>
        </p:txBody>
      </p:sp>
      <p:sp>
        <p:nvSpPr>
          <p:cNvPr name="TextBox 16" id="16"/>
          <p:cNvSpPr txBox="true"/>
          <p:nvPr/>
        </p:nvSpPr>
        <p:spPr>
          <a:xfrm rot="0">
            <a:off x="8052694" y="882499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5383469" y="-1398682"/>
            <a:ext cx="15394984" cy="16377643"/>
          </a:xfrm>
          <a:custGeom>
            <a:avLst/>
            <a:gdLst/>
            <a:ahLst/>
            <a:cxnLst/>
            <a:rect r="r" b="b" t="t" l="l"/>
            <a:pathLst>
              <a:path h="16377643" w="15394984">
                <a:moveTo>
                  <a:pt x="0" y="0"/>
                </a:moveTo>
                <a:lnTo>
                  <a:pt x="15394984" y="0"/>
                </a:lnTo>
                <a:lnTo>
                  <a:pt x="15394984" y="16377643"/>
                </a:lnTo>
                <a:lnTo>
                  <a:pt x="0" y="16377643"/>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734260" y="2307624"/>
            <a:ext cx="7835983" cy="8336152"/>
          </a:xfrm>
          <a:custGeom>
            <a:avLst/>
            <a:gdLst/>
            <a:ahLst/>
            <a:cxnLst/>
            <a:rect r="r" b="b" t="t" l="l"/>
            <a:pathLst>
              <a:path h="8336152" w="7835983">
                <a:moveTo>
                  <a:pt x="0" y="0"/>
                </a:moveTo>
                <a:lnTo>
                  <a:pt x="7835983" y="0"/>
                </a:lnTo>
                <a:lnTo>
                  <a:pt x="7835983" y="8336152"/>
                </a:lnTo>
                <a:lnTo>
                  <a:pt x="0" y="83361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1869474"/>
            <a:ext cx="9705560" cy="2160668"/>
          </a:xfrm>
          <a:prstGeom prst="rect">
            <a:avLst/>
          </a:prstGeom>
        </p:spPr>
        <p:txBody>
          <a:bodyPr anchor="t" rtlCol="false" tIns="0" lIns="0" bIns="0" rIns="0">
            <a:spAutoFit/>
          </a:bodyPr>
          <a:lstStyle/>
          <a:p>
            <a:pPr algn="l">
              <a:lnSpc>
                <a:spcPts val="15833"/>
              </a:lnSpc>
              <a:spcBef>
                <a:spcPct val="0"/>
              </a:spcBef>
            </a:pPr>
            <a:r>
              <a:rPr lang="en-US" sz="11309">
                <a:solidFill>
                  <a:srgbClr val="000000"/>
                </a:solidFill>
                <a:latin typeface="Accordion Black"/>
                <a:ea typeface="Accordion Black"/>
                <a:cs typeface="Accordion Black"/>
                <a:sym typeface="Accordion Black"/>
              </a:rPr>
              <a:t>THANK YOU</a:t>
            </a:r>
          </a:p>
        </p:txBody>
      </p:sp>
      <p:sp>
        <p:nvSpPr>
          <p:cNvPr name="AutoShape 15" id="15"/>
          <p:cNvSpPr/>
          <p:nvPr/>
        </p:nvSpPr>
        <p:spPr>
          <a:xfrm>
            <a:off x="1028700" y="4756993"/>
            <a:ext cx="4852780" cy="0"/>
          </a:xfrm>
          <a:prstGeom prst="line">
            <a:avLst/>
          </a:prstGeom>
          <a:ln cap="rnd" w="76200">
            <a:solidFill>
              <a:srgbClr val="000000"/>
            </a:solidFill>
            <a:prstDash val="solid"/>
            <a:headEnd type="none" len="sm" w="sm"/>
            <a:tailEnd type="none" len="sm" w="sm"/>
          </a:ln>
        </p:spPr>
      </p:sp>
      <p:sp>
        <p:nvSpPr>
          <p:cNvPr name="TextBox 16" id="16"/>
          <p:cNvSpPr txBox="true"/>
          <p:nvPr/>
        </p:nvSpPr>
        <p:spPr>
          <a:xfrm rot="0">
            <a:off x="8255284"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DAG8DzSGvN8</dc:identifier>
  <dcterms:modified xsi:type="dcterms:W3CDTF">2011-08-01T06:04:30Z</dcterms:modified>
  <cp:revision>1</cp:revision>
  <dc:title>Black and Grey Monocrome Business Company Presentation</dc:title>
</cp:coreProperties>
</file>